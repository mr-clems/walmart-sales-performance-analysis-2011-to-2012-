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Total Revenue by Year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($B)</c:v>
                </c:pt>
              </c:strCache>
            </c:strRef>
          </c:tx>
          <c:spPr>
            <a:solidFill>
              <a:srgbClr val="004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4C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4C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2.289</c:v>
                </c:pt>
                <c:pt idx="1">
                  <c:v>2.448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Revenue by Month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($M)</c:v>
                </c:pt>
              </c:strCache>
            </c:strRef>
          </c:tx>
          <c:spPr>
            <a:solidFill>
              <a:srgbClr val="FFC220"/>
            </a:solidFill>
            <a:ln w="38100" cap="flat">
              <a:solidFill>
                <a:srgbClr val="FFC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220"/>
              </a:solidFill>
              <a:ln w="9525" cap="flat">
                <a:solidFill>
                  <a:srgbClr val="FFC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332.6</c:v>
                </c:pt>
                <c:pt idx="1">
                  <c:v>568.7</c:v>
                </c:pt>
                <c:pt idx="2">
                  <c:v>592.8</c:v>
                </c:pt>
                <c:pt idx="3">
                  <c:v>646.9</c:v>
                </c:pt>
                <c:pt idx="4">
                  <c:v>557.1</c:v>
                </c:pt>
                <c:pt idx="5">
                  <c:v>622.6</c:v>
                </c:pt>
                <c:pt idx="6">
                  <c:v>650</c:v>
                </c:pt>
                <c:pt idx="7">
                  <c:v>613.1</c:v>
                </c:pt>
                <c:pt idx="8">
                  <c:v>578.8</c:v>
                </c:pt>
                <c:pt idx="9">
                  <c:v>584.8</c:v>
                </c:pt>
                <c:pt idx="10">
                  <c:v>413</c:v>
                </c:pt>
                <c:pt idx="11">
                  <c:v>576.8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Top 10 Stores by Total Sales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004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WMT-039</c:v>
                  </c:pt>
                  <c:pt idx="1">
                    <c:v>WMT-001</c:v>
                  </c:pt>
                  <c:pt idx="2">
                    <c:v>WMT-006</c:v>
                  </c:pt>
                  <c:pt idx="3">
                    <c:v>WMT-027</c:v>
                  </c:pt>
                  <c:pt idx="4">
                    <c:v>WMT-010</c:v>
                  </c:pt>
                  <c:pt idx="5">
                    <c:v>WMT-002</c:v>
                  </c:pt>
                  <c:pt idx="6">
                    <c:v>WMT-013</c:v>
                  </c:pt>
                  <c:pt idx="7">
                    <c:v>WMT-014</c:v>
                  </c:pt>
                  <c:pt idx="8">
                    <c:v>WMT-004</c:v>
                  </c:pt>
                  <c:pt idx="9">
                    <c:v>WMT-020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207.4</c:v>
                </c:pt>
                <c:pt idx="1">
                  <c:v>222.4</c:v>
                </c:pt>
                <c:pt idx="2">
                  <c:v>223.8</c:v>
                </c:pt>
                <c:pt idx="3">
                  <c:v>253.9</c:v>
                </c:pt>
                <c:pt idx="4">
                  <c:v>271.6</c:v>
                </c:pt>
                <c:pt idx="5">
                  <c:v>275.4</c:v>
                </c:pt>
                <c:pt idx="6">
                  <c:v>286.5</c:v>
                </c:pt>
                <c:pt idx="7">
                  <c:v>289</c:v>
                </c:pt>
                <c:pt idx="8">
                  <c:v>299.5</c:v>
                </c:pt>
                <c:pt idx="9">
                  <c:v>301.4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33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Bottom 10 Stores by Total Sales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B7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WMT-009</c:v>
                  </c:pt>
                  <c:pt idx="1">
                    <c:v>WMT-016</c:v>
                  </c:pt>
                  <c:pt idx="2">
                    <c:v>WMT-037</c:v>
                  </c:pt>
                  <c:pt idx="3">
                    <c:v>WMT-038</c:v>
                  </c:pt>
                  <c:pt idx="4">
                    <c:v>WMT-030</c:v>
                  </c:pt>
                  <c:pt idx="5">
                    <c:v>WMT-036</c:v>
                  </c:pt>
                  <c:pt idx="6">
                    <c:v>WMT-003</c:v>
                  </c:pt>
                  <c:pt idx="7">
                    <c:v>WMT-005</c:v>
                  </c:pt>
                  <c:pt idx="8">
                    <c:v>WMT-044</c:v>
                  </c:pt>
                  <c:pt idx="9">
                    <c:v>WMT-033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77.8</c:v>
                </c:pt>
                <c:pt idx="1">
                  <c:v>74.3</c:v>
                </c:pt>
                <c:pt idx="2">
                  <c:v>74.2</c:v>
                </c:pt>
                <c:pt idx="3">
                  <c:v>55.2</c:v>
                </c:pt>
                <c:pt idx="4">
                  <c:v>62.7</c:v>
                </c:pt>
                <c:pt idx="5">
                  <c:v>53.4</c:v>
                </c:pt>
                <c:pt idx="6">
                  <c:v>57.6</c:v>
                </c:pt>
                <c:pt idx="7">
                  <c:v>45.5</c:v>
                </c:pt>
                <c:pt idx="8">
                  <c:v>43.3</c:v>
                </c:pt>
                <c:pt idx="9">
                  <c:v>37.2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B7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Avg Weekly Sales by Holiday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Weekly Sales ($)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Christmas</c:v>
                  </c:pt>
                  <c:pt idx="1">
                    <c:v>Labour Day</c:v>
                  </c:pt>
                  <c:pt idx="2">
                    <c:v>Non-Holiday</c:v>
                  </c:pt>
                  <c:pt idx="3">
                    <c:v>Super Bowl</c:v>
                  </c:pt>
                  <c:pt idx="4">
                    <c:v>Thanksgiving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960833</c:v>
                </c:pt>
                <c:pt idx="1">
                  <c:v>1042427</c:v>
                </c:pt>
                <c:pt idx="2">
                  <c:v>1041256</c:v>
                </c:pt>
                <c:pt idx="3">
                  <c:v>1079127</c:v>
                </c:pt>
                <c:pt idx="4">
                  <c:v>1471273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33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Revenue Share by Holiday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8909C"/>
              </a:solidFill>
              <a:effectLst/>
            </c:spPr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bubble3D val="0"/>
            <c:spPr>
              <a:solidFill>
                <a:srgbClr val="43A047"/>
              </a:solidFill>
              <a:effectLst/>
            </c:spPr>
          </c:dPt>
          <c:dPt>
            <c:idx val="4"/>
            <c:bubble3D val="0"/>
            <c:spPr>
              <a:solidFill>
                <a:srgbClr val="E5393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Non-Holiday (92.5%)</c:v>
                </c:pt>
                <c:pt idx="1">
                  <c:v>Thanksgiving</c:v>
                </c:pt>
                <c:pt idx="2">
                  <c:v>Super Bowl</c:v>
                </c:pt>
                <c:pt idx="3">
                  <c:v>Labour Day</c:v>
                </c:pt>
                <c:pt idx="4">
                  <c:v>Christmas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92.5</c:v>
                </c:pt>
                <c:pt idx="1">
                  <c:v>1.97</c:v>
                </c:pt>
                <c:pt idx="2">
                  <c:v>2.16</c:v>
                </c:pt>
                <c:pt idx="3">
                  <c:v>2.09</c:v>
                </c:pt>
                <c:pt idx="4">
                  <c:v>1.28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3366"/>
                </a:solidFill>
                <a:latin typeface="Arial"/>
              </a:rPr>
              <a:t>Impact on Sales — Range Between Best &amp; Worst Bucket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Range ($)</c:v>
                </c:pt>
              </c:strCache>
            </c:strRef>
          </c:tx>
          <c:spPr>
            <a:solidFill>
              <a:srgbClr val="90A4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Fuel Price</c:v>
                  </c:pt>
                  <c:pt idx="1">
                    <c:v>CPI</c:v>
                  </c:pt>
                  <c:pt idx="2">
                    <c:v>Temperature</c:v>
                  </c:pt>
                  <c:pt idx="3">
                    <c:v>Unemployment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23450</c:v>
                </c:pt>
                <c:pt idx="1">
                  <c:v>85486</c:v>
                </c:pt>
                <c:pt idx="2">
                  <c:v>137528</c:v>
                </c:pt>
                <c:pt idx="3">
                  <c:v>338720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Total Sales by Quarter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($B)</c:v>
                </c:pt>
              </c:strCache>
            </c:strRef>
          </c:tx>
          <c:spPr>
            <a:solidFill>
              <a:srgbClr val="42A5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1.494</c:v>
                </c:pt>
                <c:pt idx="1">
                  <c:v>1.827</c:v>
                </c:pt>
                <c:pt idx="2">
                  <c:v>1.842</c:v>
                </c:pt>
                <c:pt idx="3">
                  <c:v>1.575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Quarterly Sales by Year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rgbClr val="004C97"/>
            </a:solidFill>
            <a:ln w="31750" cap="flat">
              <a:solidFill>
                <a:srgbClr val="004C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4C97"/>
              </a:solidFill>
              <a:ln w="9525" cap="flat">
                <a:solidFill>
                  <a:srgbClr val="004C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372.3</c:v>
                </c:pt>
                <c:pt idx="1">
                  <c:v>610.4</c:v>
                </c:pt>
                <c:pt idx="2">
                  <c:v>597.5</c:v>
                </c:pt>
                <c:pt idx="3">
                  <c:v>708.8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rgbClr val="FFC220"/>
            </a:solidFill>
            <a:ln w="31750" cap="flat">
              <a:solidFill>
                <a:srgbClr val="FFC2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220"/>
              </a:solidFill>
              <a:ln w="9525" cap="flat">
                <a:solidFill>
                  <a:srgbClr val="FFC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529.4</c:v>
                </c:pt>
                <c:pt idx="1">
                  <c:v>597.9</c:v>
                </c:pt>
                <c:pt idx="2">
                  <c:v>639.4</c:v>
                </c:pt>
                <c:pt idx="3">
                  <c:v>681.5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2012*</c:v>
                </c:pt>
              </c:strCache>
            </c:strRef>
          </c:tx>
          <c:spPr>
            <a:solidFill>
              <a:srgbClr val="90A4AE"/>
            </a:solidFill>
            <a:ln w="31750" cap="flat">
              <a:solidFill>
                <a:srgbClr val="90A4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0A4AE"/>
              </a:solidFill>
              <a:ln w="9525" cap="flat">
                <a:solidFill>
                  <a:srgbClr val="90A4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592.5</c:v>
                </c:pt>
                <c:pt idx="1">
                  <c:v>618.3</c:v>
                </c:pt>
                <c:pt idx="2">
                  <c:v>605</c:v>
                </c:pt>
                <c:pt idx="3">
                  <c:v>184.4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66"/>
                </a:solidFill>
                <a:latin typeface="Arial"/>
              </a:rPr>
              <a:t>Revenue Share by Quarter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2A5F5"/>
              </a:solidFill>
              <a:effectLst/>
            </c:spPr>
          </c:dPt>
          <c:dPt>
            <c:idx val="1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bubble3D val="0"/>
            <c:spPr>
              <a:solidFill>
                <a:srgbClr val="FFA726"/>
              </a:solidFill>
              <a:effectLst/>
            </c:spPr>
          </c:dPt>
          <c:dPt>
            <c:idx val="3"/>
            <c:bubble3D val="0"/>
            <c:spPr>
              <a:solidFill>
                <a:srgbClr val="E5393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Q1 (22.2%)</c:v>
                </c:pt>
                <c:pt idx="1">
                  <c:v>Q2 (27.1%)</c:v>
                </c:pt>
                <c:pt idx="2">
                  <c:v>Q3 (27.3%)</c:v>
                </c:pt>
                <c:pt idx="3">
                  <c:v>Q4 (23.4%)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22.18</c:v>
                </c:pt>
                <c:pt idx="1">
                  <c:v>27.11</c:v>
                </c:pt>
                <c:pt idx="2">
                  <c:v>27.34</c:v>
                </c:pt>
                <c:pt idx="3">
                  <c:v>23.37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the purpose of this project — a full data analysis of Walmart's sales data across 45 stores from 2010 to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business overview. Chain generated $6.74B total. 2011 was the strongest full year. 2012 appears lower because data ends in September — Q4 holiday season is missing. July is the best performing month, January the worst.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 performance varies dramatically — 8x gap between top and bottom. Platinum stores carry the brand. Note the difference between single-week peak performance vs overall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surprising finding: Thanksgiving consistently outperforms Christmas in every store. Christmas week shoppers have already purchased gifts earlier in December. 92.5% of revenue still comes from non-holiday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Unemployment is the #1 external factor with a $338K swing between best and worst buckets. Fuel price has almost no impact — customers trade down to Walmart when fuel rises. CPI shows a clear negative relationship with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Seasonal patterns are clear — Q3 summer leads overall. July is the peak month, not December. Zero stores peak in Q1 — this is universal across all 45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4.5x revenue gap is the strongest closing argument of the analysis. It takes 26 stores to generate 80% of revenue — a modified Pareto. 9 stores have been elite every single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recommendations slide. Summarise the 6 key action items from the analysis. These are data-driven, specific, and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summarising the end-to-end methodology. This project covered all stages of a data analysis pipeline from raw data through to executive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C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FC220">
              <a:alpha val="25000"/>
            </a:srgbClr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FC220">
              <a:alpha val="15000"/>
            </a:srgbClr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220"/>
                </a:solidFill>
              </a:rPr>
              <a:t>✦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WALMART SALES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C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Analysis using Excel, SQL &amp; Power BI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4114800" cy="3657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$6.7B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2010–2012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  •  SQL Server (SSMS)  •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$6.74B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45 stores &amp; 143 weeks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868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0592" y="1261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$1.05M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Sales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store benchmark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26864" y="822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868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26864" y="1261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26864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Tracked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dataset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82296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8686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03136" y="12618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03136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Tracked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2010 – Oct 2012</a:t>
            </a:r>
            <a:endParaRPr lang="en-US" sz="8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42316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572000" y="2423160"/>
          <a:ext cx="4297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27432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2012 data ends September — Q4 not captured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 &amp; RANKING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77724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033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C220">
              <a:alpha val="8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74320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Platinum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74320" y="40416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Stores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74320" y="4343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$1.40M avg/week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50592" y="37033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90CAF9">
              <a:alpha val="8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450592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Gold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50592" y="40416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Stores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450592" y="4343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$1.05M avg/week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26864" y="37033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B0BEC5">
              <a:alpha val="8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626864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Silver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26864" y="40416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Stores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26864" y="4343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$556K avg/week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03136" y="37033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CCBC">
              <a:alpha val="80000"/>
            </a:srgbClr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803136" y="3749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03136" y="40416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Stores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803136" y="4343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$556K avg/week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4828032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004C97">
              <a:alpha val="15000"/>
            </a:srgbClr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Store 20 leads overall ($301M) — but Store 14 holds the record for the single best week ever ($3.82M on Christmas Eve 2010)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IMPACT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96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+7.84%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Uplift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non-holiday weeks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896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50592" y="1371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Thanksgiving Avg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holidays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896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$960K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26864" y="1371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Avg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chain average!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82296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8961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45/45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03136" y="1371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Thanksgiving beats Christmas</a:t>
            </a:r>
            <a:endParaRPr lang="en-US" sz="8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14884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4572000" y="2148840"/>
          <a:ext cx="42976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274320" y="4828032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FFF3E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Thanksgiving beats Christmas in ALL 45 stores — zero exceptions. Black Friday drives massive pre-Thanksgiving traffic that Christmas cannot match.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FACTORS &amp; SALES IMPACT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82296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859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1069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$137K swing  |  Cool (33-60F) → $1,079K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12344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(81-120F) → $942K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0" y="1536192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90A4A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77840" y="1572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Fuel Price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77840" y="1783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$23K swing  |  Medium ($3-3.5) → $1,062K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77840" y="19476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($4+) → $1,039K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0" y="2249424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778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CPI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496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 swing  |  Low (120-150) → $1,083K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77840" y="26609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(200+) → $997K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0" y="2962656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77840" y="2999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Unemployment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32095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$339K swing  |  Low (3-6%) → $1,181K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77840" y="33741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(10%+) → $842K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EBEE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3721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#1 Factor: Unemployment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0050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unemployment (3-6%):  </a:t>
            </a:r>
            <a:pPr indent="0" marL="0">
              <a:buNone/>
            </a:pPr>
            <a:r>
              <a:rPr lang="en-US" sz="95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$1,180,603 avg/week
</a:t>
            </a:r>
            <a:pPr indent="0" marL="0">
              <a:buNone/>
            </a:pPr>
            <a:r>
              <a:rPr lang="en-US" sz="95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unemployment (10%+):  </a:t>
            </a:r>
            <a:pPr indent="0" marL="0">
              <a:buNone/>
            </a:pPr>
            <a:r>
              <a:rPr lang="en-US" sz="9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$841,883 avg/week  →  40% below!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4828032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004C97">
              <a:alpha val="15000"/>
            </a:srgbClr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Unemployment has the greatest impact on Walmart sales — even as a value retailer, severe unemployment significantly reduces consumer spending.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TRENDS &amp; QUARTERLY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777240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2004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47472" y="3264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Month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47472" y="3547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— $650M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(Back-to-school + 4th of July)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50592" y="32004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523744" y="3264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Worst Month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523744" y="3547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— $332M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(Post-holiday spending crash)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26864" y="32004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00016" y="3264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Q1 Peak Stores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00016" y="3547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stores peak in Q1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Universally weakest quarter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03136" y="32004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04C9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876288" y="3264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Q4 Premium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76288" y="3547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+12.2% above Q1 avg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($1,129K vs $1,006K per week)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74320" y="4828032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FFF3E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Q3 edges out Q4 as the top quarter overall — summer shopping rivals the holiday season at Walmart. *2012 Q4 is incomplete — data ends September.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&amp; REVENUE CONTRIBUTION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vs Bottom 10 Stores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645920" cy="868680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39.05%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Stores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4.5x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926080" y="1261872"/>
            <a:ext cx="1280160" cy="868680"/>
          </a:xfrm>
          <a:prstGeom prst="rect">
            <a:avLst/>
          </a:prstGeom>
          <a:solidFill>
            <a:srgbClr val="E53935">
              <a:alpha val="85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075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2608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Stores</a:t>
            </a:r>
            <a:endParaRPr lang="en-US" sz="8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0" y="777240"/>
          <a:ext cx="42976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274320" y="283464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04C9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4320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74320" y="3337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needed for 80% revenue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4320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45 total stores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450592" y="283464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450592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2450592" y="3337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stores generate 80%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450592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Pareto principle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26864" y="283464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626864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$264M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4626864" y="3337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#1 and #45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26864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20 vs Store 33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803136" y="283464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803136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6803136" y="33375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stores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3566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every year, all 3 years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74320" y="416052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FC2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57200" y="4187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9 Elite Stores — Consistently Top 10 Every Year: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1, 2, 4, 6, 10, 13, 14, 20, 27  —  These are Walmart's most dependable revenue generators across all 3 years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4828032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004C97">
              <a:alpha val="15000"/>
            </a:srgbClr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Top 10 stores generate 4.5x more revenue than the Bottom 10 — yet both groups have the same number of stores and similar operating costs.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C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FFC220">
              <a:alpha val="20000"/>
            </a:srgbClr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FC220">
              <a:alpha val="15000"/>
            </a:srgbClr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to do about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3A6B"/>
          </a:solidFill>
          <a:ln w="19050">
            <a:solidFill>
              <a:srgbClr val="FFC2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123444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Platinum Stores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54533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stores generate disproportionate revenue. Double down on inventory, staffing and promotions for these locations.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3A6B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463040"/>
            <a:ext cx="411480" cy="41148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22392" y="123444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Thanksgiving Over Christmas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154533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Thanksgiving beats Christmas in every store. Maximise Black Friday readiness — staff up, stock up, open early.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3A6B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7480"/>
            <a:ext cx="411480" cy="4114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46888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Unemployment Closely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277977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is the #1 external risk factor. A $338K per-week swing between low and very high unemployment periods.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37744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3A6B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697480"/>
            <a:ext cx="411480" cy="41148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22392" y="246888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is Walmart's Peak Season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22392" y="277977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is the strongest quarter overall. July is the best month. Back-to-school and summer events are critical revenue drivers.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3A6B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370332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Bottom 10 Stores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7552" y="401421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stores generate only 8.6% of revenue. Investigate Store 33, 44 and 5 for format changes or resource reallocation.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611880"/>
            <a:ext cx="4206240" cy="1115568"/>
          </a:xfrm>
          <a:prstGeom prst="roundRect">
            <a:avLst>
              <a:gd name="adj" fmla="val 6557"/>
            </a:avLst>
          </a:prstGeom>
          <a:solidFill>
            <a:srgbClr val="1A3A6B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931920"/>
            <a:ext cx="411480" cy="411480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22392" y="370332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Store 38's Turnaround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22392" y="4014216"/>
            <a:ext cx="3511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YoY improvement at +20.21%. What changed? The answer could provide a playbook for other underperformers.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220"/>
                </a:solidFill>
              </a:rPr>
              <a:t>✦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85800" cy="841248"/>
          </a:xfrm>
          <a:prstGeom prst="roundRect">
            <a:avLst>
              <a:gd name="adj" fmla="val 10667"/>
            </a:avLst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Microsoft Excel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527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initial exploration, pivot tables and descriptive statistics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685800" cy="841248"/>
          </a:xfrm>
          <a:prstGeom prst="roundRect">
            <a:avLst>
              <a:gd name="adj" fmla="val 10667"/>
            </a:avLst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" y="19202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 SQL Server (SSMS)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2128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 of analytical queries covering store rankings, seasonal trends, holiday impact, external factors and Pareto analysis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88920"/>
            <a:ext cx="685800" cy="841248"/>
          </a:xfrm>
          <a:prstGeom prst="roundRect">
            <a:avLst>
              <a:gd name="adj" fmla="val 10667"/>
            </a:avLst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8892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Power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72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interactive dashboard with KPI cards, bar charts, line charts, donut charts, scatter plots and DAX measures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49040"/>
            <a:ext cx="685800" cy="841248"/>
          </a:xfrm>
          <a:prstGeom prst="roundRect">
            <a:avLst>
              <a:gd name="adj" fmla="val 10667"/>
            </a:avLst>
          </a:prstGeom>
          <a:solidFill>
            <a:srgbClr val="004C97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49040"/>
            <a:ext cx="685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" y="38404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PowerPoint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1330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summarising key findings, visualisations and data-driven recommendations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12700">
            <a:solidFill>
              <a:srgbClr val="004C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908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9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Store Sales Data  |  </a:t>
            </a:r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</a:t>
            </a:r>
            <a:pPr indent="0" marL="0">
              <a:buNone/>
            </a:pPr>
            <a:r>
              <a:rPr lang="en-US" sz="9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6,435  |  </a:t>
            </a:r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Stores: </a:t>
            </a:r>
            <a:pPr indent="0" marL="0">
              <a:buNone/>
            </a:pPr>
            <a:r>
              <a:rPr lang="en-US" sz="9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 |  </a:t>
            </a:r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buNone/>
            </a:pPr>
            <a:r>
              <a:rPr lang="en-US" sz="9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2010 – October 2012  |  </a:t>
            </a:r>
            <a:pPr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</a:t>
            </a:r>
            <a:pPr indent="0" marL="0">
              <a:buNone/>
            </a:pPr>
            <a:r>
              <a:rPr lang="en-US" sz="9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including sales, holidays, temperature, CPI, fuel price &amp; unemployment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Sales Analysis</dc:title>
  <dc:subject>PptxGenJS Presentation</dc:subject>
  <dc:creator>Data Analyst</dc:creator>
  <cp:lastModifiedBy>Data Analyst</cp:lastModifiedBy>
  <cp:revision>1</cp:revision>
  <dcterms:created xsi:type="dcterms:W3CDTF">2026-06-26T08:18:12Z</dcterms:created>
  <dcterms:modified xsi:type="dcterms:W3CDTF">2026-06-26T08:18:12Z</dcterms:modified>
</cp:coreProperties>
</file>